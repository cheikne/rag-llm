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B43ECF-0DCE-4C8D-81F3-C727F0B72681}">
  <a:tblStyle styleId="{2CB43ECF-0DCE-4C8D-81F3-C727F0B726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D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Design and Evaluation of 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System for ML Course Q&amp;A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457200" y="233172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Project 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0D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B0D0"/>
                </a:solidFill>
                <a:latin typeface="Calibri"/>
                <a:ea typeface="Calibri"/>
                <a:cs typeface="Calibri"/>
                <a:sym typeface="Calibri"/>
              </a:rPr>
              <a:t>Washington State University  |  Prof. Nghia Hoang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0D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AB0D0"/>
                </a:solidFill>
                <a:latin typeface="Calibri"/>
                <a:ea typeface="Calibri"/>
                <a:cs typeface="Calibri"/>
                <a:sym typeface="Calibri"/>
              </a:rPr>
              <a:t>Final Project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51560" y="13441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51560" y="161848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 course-specific Q&amp;A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" y="20939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51560" y="236829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RAG pipeline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51560" y="28437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&amp;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51560" y="311810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MIT OCW corpus and chunking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3621024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6210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51560" y="3593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Retrieval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51560" y="386791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BM25, Dense, Hybrid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532120" y="13441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532120" y="161848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Comparison of retrieval strategies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37760" y="2121408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937760" y="2121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532120" y="20939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532120" y="236829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Step-by-step walkthrough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937760" y="2871216"/>
            <a:ext cx="50292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937760" y="28712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532120" y="28437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532120" y="311810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Key takeaways and future directions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02920" y="1463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General-Purpose LLMs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19202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Broad but not course-specific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May hallucinate or generalize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access to lecture materials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Answers misaligned with syllabus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4434840" y="30175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4297680" y="27889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46320" y="1325880"/>
            <a:ext cx="393192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846320" y="1325880"/>
            <a:ext cx="109728" cy="338328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07492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Our RAG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20640" y="192024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Retrieves from real lecture PDFs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Grounds answers in course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Reduces 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Stays aligned with curriculum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74320" y="1920240"/>
            <a:ext cx="1234440" cy="100584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274320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6"/>
          <p:cNvCxnSpPr/>
          <p:nvPr/>
        </p:nvCxnSpPr>
        <p:spPr>
          <a:xfrm>
            <a:off x="1508760" y="24231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/>
          <p:nvPr/>
        </p:nvSpPr>
        <p:spPr>
          <a:xfrm>
            <a:off x="1673352" y="1920240"/>
            <a:ext cx="1234440" cy="100584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673352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(BM25 / Dense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Hybrid)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6"/>
          <p:cNvCxnSpPr/>
          <p:nvPr/>
        </p:nvCxnSpPr>
        <p:spPr>
          <a:xfrm>
            <a:off x="2907792" y="24231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3072384" y="1920240"/>
            <a:ext cx="1234440" cy="100584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072384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4306824" y="24231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4471416" y="1920240"/>
            <a:ext cx="1234440" cy="100584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471416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5705856" y="24231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5870448" y="1920240"/>
            <a:ext cx="1234440" cy="100584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870448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(Gemma-2B)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7104888" y="24231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7269480" y="1920240"/>
            <a:ext cx="1234440" cy="10058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269480" y="192024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719072" y="3200400"/>
            <a:ext cx="23774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810512" y="3291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MIT OCW Corpus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810512" y="361188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~23 lecture PDFs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FAISS index + BM25 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2907792" y="292608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Dataset and Preparation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65760" y="1325880"/>
            <a:ext cx="196596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365760" y="1325880"/>
            <a:ext cx="196596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65760" y="1325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PDF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2468880"/>
            <a:ext cx="1783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PyMuPDF (fitz)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Preserves reading order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 slide-format PDFs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2331720" y="306324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7"/>
          <p:cNvSpPr/>
          <p:nvPr/>
        </p:nvSpPr>
        <p:spPr>
          <a:xfrm>
            <a:off x="2542032" y="1325880"/>
            <a:ext cx="196596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542032" y="1325880"/>
            <a:ext cx="196596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542032" y="1325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633472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633472" y="2468880"/>
            <a:ext cx="1783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Remove headers, footers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 formatting artifacts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Normalize whitespace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4507992" y="306324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4718304" y="1325880"/>
            <a:ext cx="196596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718304" y="1325880"/>
            <a:ext cx="196596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718304" y="1325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9744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809744" y="2468880"/>
            <a:ext cx="1783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500–1500 char 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Paragraph-aligned boundaries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Overlap for context.</a:t>
            </a:r>
            <a:endParaRPr b="0" i="0" sz="1050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0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RecursiveCharacterTextSplitter</a:t>
            </a:r>
            <a:endParaRPr sz="105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>
            <a:off x="6684264" y="306324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7"/>
          <p:cNvSpPr/>
          <p:nvPr/>
        </p:nvSpPr>
        <p:spPr>
          <a:xfrm>
            <a:off x="6894576" y="1325880"/>
            <a:ext cx="196596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894576" y="1325880"/>
            <a:ext cx="196596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894576" y="1325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986016" y="192024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&amp; Indexing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986016" y="2468880"/>
            <a:ext cx="1783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BAAI/bge-base-en-v1.5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FAISS flat index (dense)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BM25 index (sparse)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Source: MIT OpenCourseWare 6.867 — ~23 lecture PDFs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METHODS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Three Retrieval Strategies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65760" y="128016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 (Baseline)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Keyword / term-frequency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Strong on exact terminology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Fast, no learned representations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Shallow — misses paraphrase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218688" y="128016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218688" y="1280160"/>
            <a:ext cx="265176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18688" y="12801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355848" y="1920240"/>
            <a:ext cx="2377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BAAI/bge-base-en-v1.5 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FAISS nearest-neighbor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Captures semantic similarity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May surface adjacent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071616" y="1280160"/>
            <a:ext cx="26517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071616" y="1280160"/>
            <a:ext cx="2651760" cy="54864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071616" y="12801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(RRF)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208776" y="1920240"/>
            <a:ext cx="2377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Combines BM25 + Dense rankings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Reciprocal Rank Fusion (RRF)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Robust to scoring scale differences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Best overall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Retrieval Comparison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9"/>
          <p:cNvGraphicFramePr/>
          <p:nvPr/>
        </p:nvGraphicFramePr>
        <p:xfrm>
          <a:off x="36576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{2CB43ECF-0DCE-4C8D-81F3-C727F0B72681}</a:tableStyleId>
              </a:tblPr>
              <a:tblGrid>
                <a:gridCol w="2011675"/>
                <a:gridCol w="1920250"/>
                <a:gridCol w="2194550"/>
                <a:gridCol w="2286000"/>
              </a:tblGrid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 (FAISS)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(RRF)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D5E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Mechanism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 TF-IDF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similarity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Combines both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Handles paraphrase?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Robussness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(~4 seconds)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(~12 seconds)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(~12 seconds)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 terms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Conceptual Qs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use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9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48640" y="431596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D5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C2D5E"/>
                </a:solidFill>
                <a:latin typeface="Calibri"/>
                <a:ea typeface="Calibri"/>
                <a:cs typeface="Calibri"/>
                <a:sym typeface="Calibri"/>
              </a:rPr>
              <a:t>Key insight: BM25 is precise on terminology; Dense captures concepts; Hybrid delivers the best coverage overall.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D5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D5E"/>
          </a:solidFill>
          <a:ln cap="flat" cmpd="sng" w="12700">
            <a:solidFill>
              <a:srgbClr val="1C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Walkthrough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051560" y="1325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the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051560" y="163677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Run the Python backend. Confirm the FAISS index and BM25 index are loaded. The terminal will print the number of chunks indexed.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65760" y="2514600"/>
            <a:ext cx="54864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365760" y="2514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051560" y="2514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a retrieval mode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051560" y="282549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Choose BM25, Dense, or Hybrid from the config. Each method runs independently — the LLM is the same for all three.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65760" y="3703320"/>
            <a:ext cx="54864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65760" y="3703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051560" y="3703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 a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051560" y="401421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Type a course question, e.g. "What is the dual form of the SVM?" The query is embedded and top-k chunks are retrieved.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800600" y="1325880"/>
            <a:ext cx="54864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80060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0" y="1325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retrieved chunks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486400" y="163677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Inspect the retrieved context printed before generation. Observe differences in what each retrieval method surfaces.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800600" y="2514600"/>
            <a:ext cx="548640" cy="5486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800600" y="2514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0" y="2514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the generated 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0" y="2825496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Gemma-2B generates a response grounded in the retrieved chunks. Compare outputs across BM25, Dense, and Hybrid modes.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D5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1508760"/>
            <a:ext cx="1005840" cy="50292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457200" y="15087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600200" y="1545336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 working RAG pipeline using MIT OCW lecture PDFs with three retrieval strategies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57200" y="2313432"/>
            <a:ext cx="1005840" cy="50292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57200" y="231343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600200" y="2350008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Dense retrieval captures concepts better; BM25 is precise on terminology; Hybrid combines both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7200" y="3118104"/>
            <a:ext cx="1005840" cy="50292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57200" y="311810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600200" y="315468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Grounding LLM generation in course content reduces hallucination and improves relevance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57200" y="3922776"/>
            <a:ext cx="1005840" cy="50292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457200" y="3922776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600200" y="3959352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Quantitative benchmarking, cross-encoder reranking, and semantic chunking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0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0D0"/>
                </a:solidFill>
                <a:latin typeface="Calibri"/>
                <a:ea typeface="Calibri"/>
                <a:cs typeface="Calibri"/>
                <a:sym typeface="Calibri"/>
              </a:rPr>
              <a:t>Washington State University  ·  CPT 440/540  ·  Spring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